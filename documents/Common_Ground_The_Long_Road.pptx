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665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addin Shamoug" userId="08bf23ce-6254-46a0-a22c-09c4c5d6e2bf" providerId="ADAL" clId="{D721D022-6F1C-4E3A-B862-0702CE538975}"/>
    <pc:docChg chg="custSel modSld">
      <pc:chgData name="Aladdin Shamoug" userId="08bf23ce-6254-46a0-a22c-09c4c5d6e2bf" providerId="ADAL" clId="{D721D022-6F1C-4E3A-B862-0702CE538975}" dt="2026-07-02T17:04:21.397" v="2" actId="1076"/>
      <pc:docMkLst>
        <pc:docMk/>
      </pc:docMkLst>
      <pc:sldChg chg="delSp modSp mod">
        <pc:chgData name="Aladdin Shamoug" userId="08bf23ce-6254-46a0-a22c-09c4c5d6e2bf" providerId="ADAL" clId="{D721D022-6F1C-4E3A-B862-0702CE538975}" dt="2026-07-02T17:04:21.397" v="2" actId="1076"/>
        <pc:sldMkLst>
          <pc:docMk/>
          <pc:sldMk cId="0" sldId="256"/>
        </pc:sldMkLst>
        <pc:spChg chg="mod">
          <ac:chgData name="Aladdin Shamoug" userId="08bf23ce-6254-46a0-a22c-09c4c5d6e2bf" providerId="ADAL" clId="{D721D022-6F1C-4E3A-B862-0702CE538975}" dt="2026-07-02T17:04:21.397" v="2" actId="1076"/>
          <ac:spMkLst>
            <pc:docMk/>
            <pc:sldMk cId="0" sldId="256"/>
            <ac:spMk id="33" creationId="{00000000-0000-0000-0000-000000000000}"/>
          </ac:spMkLst>
        </pc:spChg>
        <pc:spChg chg="del">
          <ac:chgData name="Aladdin Shamoug" userId="08bf23ce-6254-46a0-a22c-09c4c5d6e2bf" providerId="ADAL" clId="{D721D022-6F1C-4E3A-B862-0702CE538975}" dt="2026-07-02T17:04:12.500" v="0" actId="478"/>
          <ac:spMkLst>
            <pc:docMk/>
            <pc:sldMk cId="0" sldId="256"/>
            <ac:spMk id="3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6983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hamoug.github.io/comgr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4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60920" y="50292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E0A83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3" name="Shape 1"/>
          <p:cNvSpPr/>
          <p:nvPr/>
        </p:nvSpPr>
        <p:spPr>
          <a:xfrm>
            <a:off x="7982712" y="50292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C3A5E">
              <a:alpha val="85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4" name="Shape 2"/>
          <p:cNvSpPr/>
          <p:nvPr/>
        </p:nvSpPr>
        <p:spPr>
          <a:xfrm>
            <a:off x="8604504" y="50292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C3A5E">
              <a:alpha val="85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9226296" y="50292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E0A83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6" name="Shape 4"/>
          <p:cNvSpPr/>
          <p:nvPr/>
        </p:nvSpPr>
        <p:spPr>
          <a:xfrm>
            <a:off x="9848088" y="50292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C3A5E">
              <a:alpha val="85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7" name="Shape 5"/>
          <p:cNvSpPr/>
          <p:nvPr/>
        </p:nvSpPr>
        <p:spPr>
          <a:xfrm>
            <a:off x="10469880" y="50292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C3A5E">
              <a:alpha val="85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8" name="Shape 6"/>
          <p:cNvSpPr/>
          <p:nvPr/>
        </p:nvSpPr>
        <p:spPr>
          <a:xfrm>
            <a:off x="11091672" y="50292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E0A83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9" name="Shape 7"/>
          <p:cNvSpPr/>
          <p:nvPr/>
        </p:nvSpPr>
        <p:spPr>
          <a:xfrm>
            <a:off x="7360920" y="1124712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C3A5E">
              <a:alpha val="85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0" name="Shape 8"/>
          <p:cNvSpPr/>
          <p:nvPr/>
        </p:nvSpPr>
        <p:spPr>
          <a:xfrm>
            <a:off x="7982712" y="1124712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C3A5E">
              <a:alpha val="85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1" name="Shape 9"/>
          <p:cNvSpPr/>
          <p:nvPr/>
        </p:nvSpPr>
        <p:spPr>
          <a:xfrm>
            <a:off x="8604504" y="1124712"/>
            <a:ext cx="566928" cy="566928"/>
          </a:xfrm>
          <a:prstGeom prst="roundRect">
            <a:avLst>
              <a:gd name="adj" fmla="val 8065"/>
            </a:avLst>
          </a:prstGeom>
          <a:solidFill>
            <a:srgbClr val="E0A83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2" name="Shape 10"/>
          <p:cNvSpPr/>
          <p:nvPr/>
        </p:nvSpPr>
        <p:spPr>
          <a:xfrm>
            <a:off x="9226296" y="1124712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C3A5E">
              <a:alpha val="85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3" name="Shape 11"/>
          <p:cNvSpPr/>
          <p:nvPr/>
        </p:nvSpPr>
        <p:spPr>
          <a:xfrm>
            <a:off x="9848088" y="1124712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C3A5E">
              <a:alpha val="85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4" name="Shape 12"/>
          <p:cNvSpPr/>
          <p:nvPr/>
        </p:nvSpPr>
        <p:spPr>
          <a:xfrm>
            <a:off x="10469880" y="1124712"/>
            <a:ext cx="566928" cy="566928"/>
          </a:xfrm>
          <a:prstGeom prst="roundRect">
            <a:avLst>
              <a:gd name="adj" fmla="val 8065"/>
            </a:avLst>
          </a:prstGeom>
          <a:solidFill>
            <a:srgbClr val="E0A83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5" name="Shape 13"/>
          <p:cNvSpPr/>
          <p:nvPr/>
        </p:nvSpPr>
        <p:spPr>
          <a:xfrm>
            <a:off x="11091672" y="1124712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C3A5E">
              <a:alpha val="85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6" name="Shape 14"/>
          <p:cNvSpPr/>
          <p:nvPr/>
        </p:nvSpPr>
        <p:spPr>
          <a:xfrm>
            <a:off x="7360920" y="1746504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C3A5E">
              <a:alpha val="85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7" name="Shape 15"/>
          <p:cNvSpPr/>
          <p:nvPr/>
        </p:nvSpPr>
        <p:spPr>
          <a:xfrm>
            <a:off x="7982712" y="1746504"/>
            <a:ext cx="566928" cy="566928"/>
          </a:xfrm>
          <a:prstGeom prst="roundRect">
            <a:avLst>
              <a:gd name="adj" fmla="val 8065"/>
            </a:avLst>
          </a:prstGeom>
          <a:solidFill>
            <a:srgbClr val="E0A83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8" name="Shape 16"/>
          <p:cNvSpPr/>
          <p:nvPr/>
        </p:nvSpPr>
        <p:spPr>
          <a:xfrm>
            <a:off x="8604504" y="1746504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C3A5E">
              <a:alpha val="85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9" name="Shape 17"/>
          <p:cNvSpPr/>
          <p:nvPr/>
        </p:nvSpPr>
        <p:spPr>
          <a:xfrm>
            <a:off x="9226296" y="1746504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C3A5E">
              <a:alpha val="85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0" name="Shape 18"/>
          <p:cNvSpPr/>
          <p:nvPr/>
        </p:nvSpPr>
        <p:spPr>
          <a:xfrm>
            <a:off x="9848088" y="1746504"/>
            <a:ext cx="566928" cy="566928"/>
          </a:xfrm>
          <a:prstGeom prst="roundRect">
            <a:avLst>
              <a:gd name="adj" fmla="val 8065"/>
            </a:avLst>
          </a:prstGeom>
          <a:solidFill>
            <a:srgbClr val="E0A83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1" name="Shape 19"/>
          <p:cNvSpPr/>
          <p:nvPr/>
        </p:nvSpPr>
        <p:spPr>
          <a:xfrm>
            <a:off x="10469880" y="1746504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C3A5E">
              <a:alpha val="85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2" name="Shape 20"/>
          <p:cNvSpPr/>
          <p:nvPr/>
        </p:nvSpPr>
        <p:spPr>
          <a:xfrm>
            <a:off x="11091672" y="1746504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C3A5E">
              <a:alpha val="85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3" name="Shape 21"/>
          <p:cNvSpPr/>
          <p:nvPr/>
        </p:nvSpPr>
        <p:spPr>
          <a:xfrm>
            <a:off x="7360920" y="2368296"/>
            <a:ext cx="566928" cy="566928"/>
          </a:xfrm>
          <a:prstGeom prst="roundRect">
            <a:avLst>
              <a:gd name="adj" fmla="val 8065"/>
            </a:avLst>
          </a:prstGeom>
          <a:solidFill>
            <a:srgbClr val="E0A83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4" name="Shape 22"/>
          <p:cNvSpPr/>
          <p:nvPr/>
        </p:nvSpPr>
        <p:spPr>
          <a:xfrm>
            <a:off x="7982712" y="2368296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C3A5E">
              <a:alpha val="85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5" name="Shape 23"/>
          <p:cNvSpPr/>
          <p:nvPr/>
        </p:nvSpPr>
        <p:spPr>
          <a:xfrm>
            <a:off x="8604504" y="2368296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C3A5E">
              <a:alpha val="85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6" name="Shape 24"/>
          <p:cNvSpPr/>
          <p:nvPr/>
        </p:nvSpPr>
        <p:spPr>
          <a:xfrm>
            <a:off x="9226296" y="2368296"/>
            <a:ext cx="566928" cy="566928"/>
          </a:xfrm>
          <a:prstGeom prst="roundRect">
            <a:avLst>
              <a:gd name="adj" fmla="val 8065"/>
            </a:avLst>
          </a:prstGeom>
          <a:solidFill>
            <a:srgbClr val="E0A83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7" name="Shape 25"/>
          <p:cNvSpPr/>
          <p:nvPr/>
        </p:nvSpPr>
        <p:spPr>
          <a:xfrm>
            <a:off x="9848088" y="2368296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C3A5E">
              <a:alpha val="85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8" name="Shape 26"/>
          <p:cNvSpPr/>
          <p:nvPr/>
        </p:nvSpPr>
        <p:spPr>
          <a:xfrm>
            <a:off x="10469880" y="2368296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C3A5E">
              <a:alpha val="85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9" name="Shape 27"/>
          <p:cNvSpPr/>
          <p:nvPr/>
        </p:nvSpPr>
        <p:spPr>
          <a:xfrm>
            <a:off x="11091672" y="2368296"/>
            <a:ext cx="566928" cy="566928"/>
          </a:xfrm>
          <a:prstGeom prst="roundRect">
            <a:avLst>
              <a:gd name="adj" fmla="val 8065"/>
            </a:avLst>
          </a:prstGeom>
          <a:solidFill>
            <a:srgbClr val="E0A83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30" name="Text 28"/>
          <p:cNvSpPr/>
          <p:nvPr/>
        </p:nvSpPr>
        <p:spPr>
          <a:xfrm>
            <a:off x="82296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E0A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GAME ABOUT THE WORK WE DO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77240" y="306324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Ground</a:t>
            </a:r>
            <a:endParaRPr lang="en-US" sz="5800" dirty="0"/>
          </a:p>
        </p:txBody>
      </p:sp>
      <p:sp>
        <p:nvSpPr>
          <p:cNvPr id="32" name="Text 30"/>
          <p:cNvSpPr/>
          <p:nvPr/>
        </p:nvSpPr>
        <p:spPr>
          <a:xfrm>
            <a:off x="777240" y="39776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i="1" dirty="0">
                <a:solidFill>
                  <a:srgbClr val="2E6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Long Road</a:t>
            </a:r>
            <a:endParaRPr lang="en-US" sz="4000" dirty="0"/>
          </a:p>
        </p:txBody>
      </p:sp>
      <p:sp>
        <p:nvSpPr>
          <p:cNvPr id="33" name="Text 31"/>
          <p:cNvSpPr/>
          <p:nvPr/>
        </p:nvSpPr>
        <p:spPr>
          <a:xfrm>
            <a:off x="822960" y="54406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C7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the dice, race a hundred squares, and learn how real crisis response works. A short, playful way to explain field coordination to anyone.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6384" y="8229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board game about coordination, in your browser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87452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Ground is a light, story-driven game you open like any web page. </a:t>
            </a:r>
            <a:r>
              <a:rPr lang="en-US" sz="17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install, no login, no files to download.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64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Snakes &amp; Ladders, but every climb and every slide is a real moment from a UN Country Team's life: an agreement reached, a flood, an outbreak, a border closed.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play in five minutes and come away with a feel for how coordination really works.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720840" y="1828800"/>
            <a:ext cx="4663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526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8" name="Shape 6"/>
          <p:cNvSpPr/>
          <p:nvPr/>
        </p:nvSpPr>
        <p:spPr>
          <a:xfrm>
            <a:off x="6949440" y="2148840"/>
            <a:ext cx="731520" cy="731520"/>
          </a:xfrm>
          <a:prstGeom prst="ellipse">
            <a:avLst/>
          </a:prstGeom>
          <a:solidFill>
            <a:srgbClr val="1C7293"/>
          </a:solidFill>
          <a:ln/>
          <a:effectLst>
            <a:outerShdw blurRad="114300" dist="38100" dir="5400000" algn="bl" rotWithShape="0">
              <a:srgbClr val="0A1526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9635" y="2339035"/>
            <a:ext cx="351130" cy="3511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863840" y="208483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in the field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863840" y="2487168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posted to a crisis theatre and given a job title.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720840" y="3401568"/>
            <a:ext cx="4663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526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13" name="Shape 10"/>
          <p:cNvSpPr/>
          <p:nvPr/>
        </p:nvSpPr>
        <p:spPr>
          <a:xfrm>
            <a:off x="6949440" y="3721608"/>
            <a:ext cx="731520" cy="731520"/>
          </a:xfrm>
          <a:prstGeom prst="ellipse">
            <a:avLst/>
          </a:prstGeom>
          <a:solidFill>
            <a:srgbClr val="2E6FB0"/>
          </a:solidFill>
          <a:ln/>
          <a:effectLst>
            <a:outerShdw blurRad="114300" dist="38100" dir="5400000" algn="bl" rotWithShape="0">
              <a:srgbClr val="0A1526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9635" y="3911803"/>
            <a:ext cx="351130" cy="35113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863840" y="3657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long road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7863840" y="4059936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Race 100 squares to a finished mandate.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720840" y="4974336"/>
            <a:ext cx="46634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526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18" name="Shape 14"/>
          <p:cNvSpPr/>
          <p:nvPr/>
        </p:nvSpPr>
        <p:spPr>
          <a:xfrm>
            <a:off x="6949440" y="5294376"/>
            <a:ext cx="731520" cy="731520"/>
          </a:xfrm>
          <a:prstGeom prst="ellipse">
            <a:avLst/>
          </a:prstGeom>
          <a:solidFill>
            <a:srgbClr val="E0A83E"/>
          </a:solidFill>
          <a:ln/>
          <a:effectLst>
            <a:outerShdw blurRad="114300" dist="38100" dir="5400000" algn="bl" rotWithShape="0">
              <a:srgbClr val="0A1526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9635" y="5484571"/>
            <a:ext cx="351130" cy="35113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863840" y="523036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learn as you play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7863840" y="5632704"/>
            <a:ext cx="3337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card carries a real, fact-checked insight.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TURN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6384" y="8229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Deal in, roll, move, read a card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615184" cy="3977640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526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1719072" y="2286000"/>
            <a:ext cx="822960" cy="822960"/>
          </a:xfrm>
          <a:prstGeom prst="ellipse">
            <a:avLst/>
          </a:prstGeom>
          <a:solidFill>
            <a:srgbClr val="1C7293"/>
          </a:solidFill>
          <a:ln/>
          <a:effectLst>
            <a:outerShdw blurRad="114300" dist="38100" dir="5400000" algn="bl" rotWithShape="0">
              <a:srgbClr val="0A1526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3042" y="249997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24612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05840" y="3703320"/>
            <a:ext cx="2249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table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51560" y="4224528"/>
            <a:ext cx="215798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2 to 4 seats. Each is a human you name, or an AI rival named for you.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611880" y="1965960"/>
            <a:ext cx="2615184" cy="3977640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526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11" name="Shape 8"/>
          <p:cNvSpPr/>
          <p:nvPr/>
        </p:nvSpPr>
        <p:spPr>
          <a:xfrm>
            <a:off x="4507992" y="2286000"/>
            <a:ext cx="822960" cy="822960"/>
          </a:xfrm>
          <a:prstGeom prst="ellipse">
            <a:avLst/>
          </a:prstGeom>
          <a:solidFill>
            <a:srgbClr val="2E6FB0"/>
          </a:solidFill>
          <a:ln/>
          <a:effectLst>
            <a:outerShdw blurRad="114300" dist="38100" dir="5400000" algn="bl" rotWithShape="0">
              <a:srgbClr val="0A1526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1962" y="249997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11880" y="324612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E6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3794760" y="3703320"/>
            <a:ext cx="2249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your posting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840480" y="4224528"/>
            <a:ext cx="215798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deal hands you a job title and a crisis theatre, different every game.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6400800" y="1965960"/>
            <a:ext cx="2615184" cy="3977640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526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17" name="Shape 13"/>
          <p:cNvSpPr/>
          <p:nvPr/>
        </p:nvSpPr>
        <p:spPr>
          <a:xfrm>
            <a:off x="7296912" y="2286000"/>
            <a:ext cx="822960" cy="822960"/>
          </a:xfrm>
          <a:prstGeom prst="ellipse">
            <a:avLst/>
          </a:prstGeom>
          <a:solidFill>
            <a:srgbClr val="E0A83E"/>
          </a:solidFill>
          <a:ln/>
          <a:effectLst>
            <a:outerShdw blurRad="114300" dist="38100" dir="5400000" algn="bl" rotWithShape="0">
              <a:srgbClr val="0A1526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0882" y="2499970"/>
            <a:ext cx="395021" cy="39502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00800" y="324612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A8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6583680" y="3703320"/>
            <a:ext cx="2249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 the dice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6629400" y="4224528"/>
            <a:ext cx="215798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sum of one or two dice. Doubles roll again. Overshoot 100 and bounce back.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9189720" y="1965960"/>
            <a:ext cx="2615184" cy="3977640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526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23" name="Shape 18"/>
          <p:cNvSpPr/>
          <p:nvPr/>
        </p:nvSpPr>
        <p:spPr>
          <a:xfrm>
            <a:off x="10085832" y="2286000"/>
            <a:ext cx="822960" cy="822960"/>
          </a:xfrm>
          <a:prstGeom prst="ellipse">
            <a:avLst/>
          </a:prstGeom>
          <a:solidFill>
            <a:srgbClr val="4F8A5B"/>
          </a:solidFill>
          <a:ln/>
          <a:effectLst>
            <a:outerShdw blurRad="114300" dist="38100" dir="5400000" algn="bl" rotWithShape="0">
              <a:srgbClr val="0A1526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9802" y="2499970"/>
            <a:ext cx="395021" cy="39502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89720" y="3246120"/>
            <a:ext cx="26151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F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0"/>
          <p:cNvSpPr/>
          <p:nvPr/>
        </p:nvSpPr>
        <p:spPr>
          <a:xfrm>
            <a:off x="9372600" y="3703320"/>
            <a:ext cx="2249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 and learn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9418320" y="4224528"/>
            <a:ext cx="215798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card explains what just happened, read aloud, with a real fun fact.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to square 100 completes the mandate. Play continues until the last player is home.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 OF THE GAME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6384" y="8229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Ladders are the good days. Holes are the hard ones.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526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1143000" y="2331720"/>
            <a:ext cx="914400" cy="914400"/>
          </a:xfrm>
          <a:prstGeom prst="ellipse">
            <a:avLst/>
          </a:prstGeom>
          <a:solidFill>
            <a:srgbClr val="4F8A5B"/>
          </a:solidFill>
          <a:ln/>
          <a:effectLst>
            <a:outerShdw blurRad="114300" dist="38100" dir="5400000" algn="bl" rotWithShape="0">
              <a:srgbClr val="0A1526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744" y="256946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0" y="24688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4F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Ladders: the lucky breaks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1234440" y="3429000"/>
            <a:ext cx="4480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agreement signed</a:t>
            </a:r>
            <a:endParaRPr lang="en-US" sz="1600" dirty="0"/>
          </a:p>
          <a:p>
            <a:pPr marL="203200" indent="-2032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partnership</a:t>
            </a:r>
            <a:endParaRPr lang="en-US" sz="1600" dirty="0"/>
          </a:p>
          <a:p>
            <a:pPr marL="203200" indent="-2032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trust earned</a:t>
            </a:r>
            <a:endParaRPr lang="en-US" sz="1600" dirty="0"/>
          </a:p>
          <a:p>
            <a:pPr marL="203200" indent="-2032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funding released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234440" y="52578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climb, and a card tells the story behind the win.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263640" y="1965960"/>
            <a:ext cx="512064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526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11" name="Shape 8"/>
          <p:cNvSpPr/>
          <p:nvPr/>
        </p:nvSpPr>
        <p:spPr>
          <a:xfrm>
            <a:off x="6583680" y="2331720"/>
            <a:ext cx="914400" cy="914400"/>
          </a:xfrm>
          <a:prstGeom prst="ellipse">
            <a:avLst/>
          </a:prstGeom>
          <a:solidFill>
            <a:srgbClr val="C7584A"/>
          </a:solidFill>
          <a:ln/>
          <a:effectLst>
            <a:outerShdw blurRad="114300" dist="38100" dir="5400000" algn="bl" rotWithShape="0">
              <a:srgbClr val="0A1526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424" y="256946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26680" y="246888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C758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Holes: the real crises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6675120" y="3429000"/>
            <a:ext cx="44805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flood or an outbreak</a:t>
            </a:r>
            <a:endParaRPr lang="en-US" sz="1600" dirty="0"/>
          </a:p>
          <a:p>
            <a:pPr marL="203200" indent="-2032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border or access closed</a:t>
            </a:r>
            <a:endParaRPr lang="en-US" sz="1600" dirty="0"/>
          </a:p>
          <a:p>
            <a:pPr marL="203200" indent="-2032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Misinformation spreading</a:t>
            </a:r>
            <a:endParaRPr lang="en-US" sz="1600" dirty="0"/>
          </a:p>
          <a:p>
            <a:pPr marL="203200" indent="-203200">
              <a:lnSpc>
                <a:spcPct val="135000"/>
              </a:lnSpc>
              <a:buSzPct val="100000"/>
              <a:buChar char="•"/>
            </a:pPr>
            <a:r>
              <a:rPr lang="en-US" sz="16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funding gap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675120" y="5257800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slide, but you learn what a Country Team really faces.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SURPRISES ALONG THE WAY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6384" y="8229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things you can pick up on the board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103120"/>
            <a:ext cx="2615184" cy="3566160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526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1673352" y="2468880"/>
            <a:ext cx="914400" cy="914400"/>
          </a:xfrm>
          <a:prstGeom prst="ellipse">
            <a:avLst/>
          </a:prstGeom>
          <a:solidFill>
            <a:srgbClr val="E0A83E"/>
          </a:solidFill>
          <a:ln/>
          <a:effectLst>
            <a:outerShdw blurRad="114300" dist="38100" dir="5400000" algn="bl" rotWithShape="0">
              <a:srgbClr val="0A1526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1096" y="270662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365760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Trophies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97280" y="4160520"/>
            <a:ext cx="20665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Recognition, matched to your job title. Collect it and roll again.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11880" y="2103120"/>
            <a:ext cx="2615184" cy="3566160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526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10" name="Shape 7"/>
          <p:cNvSpPr/>
          <p:nvPr/>
        </p:nvSpPr>
        <p:spPr>
          <a:xfrm>
            <a:off x="4462272" y="2468880"/>
            <a:ext cx="914400" cy="914400"/>
          </a:xfrm>
          <a:prstGeom prst="ellipse">
            <a:avLst/>
          </a:prstGeom>
          <a:solidFill>
            <a:srgbClr val="1C7293"/>
          </a:solidFill>
          <a:ln/>
          <a:effectLst>
            <a:outerShdw blurRad="114300" dist="38100" dir="5400000" algn="bl" rotWithShape="0">
              <a:srgbClr val="0A1526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270662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94760" y="365760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Diamonds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3886200" y="4160520"/>
            <a:ext cx="20665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lucky find. Collect one and hop a few squares forward.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400800" y="2103120"/>
            <a:ext cx="2615184" cy="3566160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526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15" name="Shape 11"/>
          <p:cNvSpPr/>
          <p:nvPr/>
        </p:nvSpPr>
        <p:spPr>
          <a:xfrm>
            <a:off x="7251192" y="2468880"/>
            <a:ext cx="914400" cy="914400"/>
          </a:xfrm>
          <a:prstGeom prst="ellipse">
            <a:avLst/>
          </a:prstGeom>
          <a:solidFill>
            <a:srgbClr val="2E6FB0"/>
          </a:solidFill>
          <a:ln/>
          <a:effectLst>
            <a:outerShdw blurRad="114300" dist="38100" dir="5400000" algn="bl" rotWithShape="0">
              <a:srgbClr val="0A1526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8936" y="270662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83680" y="365760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Surprises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6675120" y="4160520"/>
            <a:ext cx="20665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mystery card: a bonus, a jump ahead, a found gem, or a lost turn.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9189720" y="2103120"/>
            <a:ext cx="2615184" cy="3566160"/>
          </a:xfrm>
          <a:prstGeom prst="roundRect">
            <a:avLst>
              <a:gd name="adj" fmla="val 4196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526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20" name="Shape 15"/>
          <p:cNvSpPr/>
          <p:nvPr/>
        </p:nvSpPr>
        <p:spPr>
          <a:xfrm>
            <a:off x="10040112" y="2468880"/>
            <a:ext cx="914400" cy="914400"/>
          </a:xfrm>
          <a:prstGeom prst="ellipse">
            <a:avLst/>
          </a:prstGeom>
          <a:solidFill>
            <a:srgbClr val="4F8A5B"/>
          </a:solidFill>
          <a:ln/>
          <a:effectLst>
            <a:outerShdw blurRad="114300" dist="38100" dir="5400000" algn="bl" rotWithShape="0">
              <a:srgbClr val="0A1526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77856" y="2706624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72600" y="3657600"/>
            <a:ext cx="22494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Field notes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9464040" y="4160520"/>
            <a:ext cx="2066544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quick, true fun fact about coordination as you pass.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 is built fresh every game, so trophies, diamonds and holes move each time. No two runs are the same.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ALONE OR TOGETHER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6384" y="8229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board, humans and AI side by side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12064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526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1143000" y="2286000"/>
            <a:ext cx="868680" cy="868680"/>
          </a:xfrm>
          <a:prstGeom prst="ellipse">
            <a:avLst/>
          </a:prstGeom>
          <a:solidFill>
            <a:srgbClr val="2E6FB0"/>
          </a:solidFill>
          <a:ln/>
          <a:effectLst>
            <a:outerShdw blurRad="114300" dist="38100" dir="5400000" algn="bl" rotWithShape="0">
              <a:srgbClr val="0A1526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857" y="251185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40280" y="23774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colleagues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234440" y="3200400"/>
            <a:ext cx="4480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364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games open on other browsers in a live lobby.</a:t>
            </a:r>
            <a:endParaRPr lang="en-US" sz="1550" dirty="0"/>
          </a:p>
          <a:p>
            <a:pPr marL="203200" indent="-203200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364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one and take over an AI seat with your own name.</a:t>
            </a:r>
            <a:endParaRPr lang="en-US" sz="1550" dirty="0"/>
          </a:p>
          <a:p>
            <a:pPr marL="203200" indent="-203200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364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watches the moves and cards in real time.</a:t>
            </a:r>
            <a:endParaRPr lang="en-US" sz="1550" dirty="0"/>
          </a:p>
          <a:p>
            <a:pPr marL="203200" indent="-203200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364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to sign up for. Just open the page.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263640" y="1965960"/>
            <a:ext cx="512064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526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10" name="Shape 7"/>
          <p:cNvSpPr/>
          <p:nvPr/>
        </p:nvSpPr>
        <p:spPr>
          <a:xfrm>
            <a:off x="6583680" y="2286000"/>
            <a:ext cx="868680" cy="868680"/>
          </a:xfrm>
          <a:prstGeom prst="ellipse">
            <a:avLst/>
          </a:prstGeom>
          <a:solidFill>
            <a:srgbClr val="E0A83E"/>
          </a:solidFill>
          <a:ln/>
          <a:effectLst>
            <a:outerShdw blurRad="114300" dist="38100" dir="5400000" algn="bl" rotWithShape="0">
              <a:srgbClr val="0A1526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9537" y="2511857"/>
            <a:ext cx="416966" cy="4169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80960" y="23774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your own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675120" y="3200400"/>
            <a:ext cx="44805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364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Solo vs AI and play against friendly rivals.</a:t>
            </a:r>
            <a:endParaRPr lang="en-US" sz="1550" dirty="0"/>
          </a:p>
          <a:p>
            <a:pPr marL="203200" indent="-203200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364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seats freely: solo, hotseat with friends, or all AI.</a:t>
            </a:r>
            <a:endParaRPr lang="en-US" sz="1550" dirty="0"/>
          </a:p>
          <a:p>
            <a:pPr marL="203200" indent="-203200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364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die or two for a faster or slower pace.</a:t>
            </a:r>
            <a:endParaRPr lang="en-US" sz="1550" dirty="0"/>
          </a:p>
          <a:p>
            <a:pPr marL="203200" indent="-203200">
              <a:lnSpc>
                <a:spcPct val="130000"/>
              </a:lnSpc>
              <a:buSzPct val="100000"/>
              <a:buChar char="•"/>
            </a:pPr>
            <a:r>
              <a:rPr lang="en-US" sz="1550" dirty="0">
                <a:solidFill>
                  <a:srgbClr val="364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a quick demo or an ice-breaker.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FEELS TO PLAY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6384" y="82296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Narration and music, made live in the browser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3502152" cy="3749040"/>
          </a:xfrm>
          <a:prstGeom prst="roundRect">
            <a:avLst>
              <a:gd name="adj" fmla="val 313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526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1143000" y="2331720"/>
            <a:ext cx="868680" cy="868680"/>
          </a:xfrm>
          <a:prstGeom prst="ellipse">
            <a:avLst/>
          </a:prstGeom>
          <a:solidFill>
            <a:srgbClr val="1C7293"/>
          </a:solidFill>
          <a:ln/>
          <a:effectLst>
            <a:outerShdw blurRad="114300" dist="38100" dir="5400000" algn="bl" rotWithShape="0">
              <a:srgbClr val="0A1526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8857" y="255757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3337560"/>
            <a:ext cx="28620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voice reads to you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143000" y="4114800"/>
            <a:ext cx="290779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card is spoken aloud in a warm voice, using your browser's built-in speech. Turn it on or off any time.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4507992" y="2011680"/>
            <a:ext cx="3502152" cy="3749040"/>
          </a:xfrm>
          <a:prstGeom prst="roundRect">
            <a:avLst>
              <a:gd name="adj" fmla="val 313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526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10" name="Shape 7"/>
          <p:cNvSpPr/>
          <p:nvPr/>
        </p:nvSpPr>
        <p:spPr>
          <a:xfrm>
            <a:off x="4828032" y="2331720"/>
            <a:ext cx="868680" cy="868680"/>
          </a:xfrm>
          <a:prstGeom prst="ellipse">
            <a:avLst/>
          </a:prstGeom>
          <a:solidFill>
            <a:srgbClr val="E0A83E"/>
          </a:solidFill>
          <a:ln/>
          <a:effectLst>
            <a:outerShdw blurRad="114300" dist="38100" dir="5400000" algn="bl" rotWithShape="0">
              <a:srgbClr val="0A1526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3889" y="2557577"/>
            <a:ext cx="416966" cy="4169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28032" y="3337560"/>
            <a:ext cx="28620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original score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828032" y="4114800"/>
            <a:ext cx="290779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music is generated live and deepens as you move through the board's four zones. Nothing is pre-recorded.</a:t>
            </a:r>
            <a:endParaRPr lang="en-US" sz="1450" dirty="0"/>
          </a:p>
        </p:txBody>
      </p:sp>
      <p:sp>
        <p:nvSpPr>
          <p:cNvPr id="14" name="Shape 10"/>
          <p:cNvSpPr/>
          <p:nvPr/>
        </p:nvSpPr>
        <p:spPr>
          <a:xfrm>
            <a:off x="8193024" y="2011680"/>
            <a:ext cx="3502152" cy="3749040"/>
          </a:xfrm>
          <a:prstGeom prst="roundRect">
            <a:avLst>
              <a:gd name="adj" fmla="val 313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A1526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15" name="Shape 11"/>
          <p:cNvSpPr/>
          <p:nvPr/>
        </p:nvSpPr>
        <p:spPr>
          <a:xfrm>
            <a:off x="8513064" y="2331720"/>
            <a:ext cx="868680" cy="868680"/>
          </a:xfrm>
          <a:prstGeom prst="ellipse">
            <a:avLst/>
          </a:prstGeom>
          <a:solidFill>
            <a:srgbClr val="2E6FB0"/>
          </a:solidFill>
          <a:ln/>
          <a:effectLst>
            <a:outerShdw blurRad="114300" dist="38100" dir="5400000" algn="bl" rotWithShape="0">
              <a:srgbClr val="0A1526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8921" y="2557577"/>
            <a:ext cx="416966" cy="4169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13064" y="3337560"/>
            <a:ext cx="286207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in the browser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513064" y="4114800"/>
            <a:ext cx="290779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Board, dice, tokens and sound are drawn and made on the fly. No videos, no downloads, no external files.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4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0A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RINGS TRUE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6384" y="896112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fun is invented. The wisdom is real.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173736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7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crisis theatres are made-up composites, but every fact on the cards was checked against UN, OCHA, UNHCR, WHO, FAO, CERF and Grand Bargain sources.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697480"/>
            <a:ext cx="2615184" cy="2331720"/>
          </a:xfrm>
          <a:prstGeom prst="roundRect">
            <a:avLst>
              <a:gd name="adj" fmla="val 3922"/>
            </a:avLst>
          </a:prstGeom>
          <a:solidFill>
            <a:srgbClr val="1C3A5E"/>
          </a:solidFill>
          <a:ln/>
          <a:effectLst>
            <a:outerShdw blurRad="114300" dist="38100" dir="5400000" algn="bl" rotWithShape="0">
              <a:srgbClr val="0A1526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6" name="Text 4"/>
          <p:cNvSpPr/>
          <p:nvPr/>
        </p:nvSpPr>
        <p:spPr>
          <a:xfrm>
            <a:off x="822960" y="2926080"/>
            <a:ext cx="26151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E0A8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72h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1078992" y="3886200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C7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CERF can release emergency funds within seventy-two hours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11880" y="2697480"/>
            <a:ext cx="2615184" cy="2331720"/>
          </a:xfrm>
          <a:prstGeom prst="roundRect">
            <a:avLst>
              <a:gd name="adj" fmla="val 3922"/>
            </a:avLst>
          </a:prstGeom>
          <a:solidFill>
            <a:srgbClr val="1C3A5E"/>
          </a:solidFill>
          <a:ln/>
          <a:effectLst>
            <a:outerShdw blurRad="114300" dist="38100" dir="5400000" algn="bl" rotWithShape="0">
              <a:srgbClr val="0A1526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9" name="Text 7"/>
          <p:cNvSpPr/>
          <p:nvPr/>
        </p:nvSpPr>
        <p:spPr>
          <a:xfrm>
            <a:off x="3611880" y="2926080"/>
            <a:ext cx="26151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3867912" y="3886200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C7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Grand Bargain target for funding going to local responders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2697480"/>
            <a:ext cx="2615184" cy="2331720"/>
          </a:xfrm>
          <a:prstGeom prst="roundRect">
            <a:avLst>
              <a:gd name="adj" fmla="val 3922"/>
            </a:avLst>
          </a:prstGeom>
          <a:solidFill>
            <a:srgbClr val="1C3A5E"/>
          </a:solidFill>
          <a:ln/>
          <a:effectLst>
            <a:outerShdw blurRad="114300" dist="38100" dir="5400000" algn="bl" rotWithShape="0">
              <a:srgbClr val="0A1526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12" name="Text 10"/>
          <p:cNvSpPr/>
          <p:nvPr/>
        </p:nvSpPr>
        <p:spPr>
          <a:xfrm>
            <a:off x="6400800" y="2926080"/>
            <a:ext cx="26151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4F8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6656832" y="3886200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C7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for every $1 of early, anticipatory action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189720" y="2697480"/>
            <a:ext cx="2615184" cy="2331720"/>
          </a:xfrm>
          <a:prstGeom prst="roundRect">
            <a:avLst>
              <a:gd name="adj" fmla="val 3922"/>
            </a:avLst>
          </a:prstGeom>
          <a:solidFill>
            <a:srgbClr val="1C3A5E"/>
          </a:solidFill>
          <a:ln/>
          <a:effectLst>
            <a:outerShdw blurRad="114300" dist="38100" dir="5400000" algn="bl" rotWithShape="0">
              <a:srgbClr val="0A1526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sp>
        <p:nvSpPr>
          <p:cNvPr id="15" name="Text 13"/>
          <p:cNvSpPr/>
          <p:nvPr/>
        </p:nvSpPr>
        <p:spPr>
          <a:xfrm>
            <a:off x="9189720" y="2926080"/>
            <a:ext cx="26151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2E6F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123M</a:t>
            </a:r>
            <a:endParaRPr lang="en-US" sz="4600" dirty="0"/>
          </a:p>
        </p:txBody>
      </p:sp>
      <p:sp>
        <p:nvSpPr>
          <p:cNvPr id="16" name="Text 14"/>
          <p:cNvSpPr/>
          <p:nvPr/>
        </p:nvSpPr>
        <p:spPr>
          <a:xfrm>
            <a:off x="9445752" y="3886200"/>
            <a:ext cx="2103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C7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forcibly displaced worldwide, a reality the game reflects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54406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E0A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finish a game knowing a little more about how the system actually responds.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4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60920" y="411480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E0A83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3" name="Shape 1"/>
          <p:cNvSpPr/>
          <p:nvPr/>
        </p:nvSpPr>
        <p:spPr>
          <a:xfrm>
            <a:off x="7982712" y="411480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C3A5E">
              <a:alpha val="85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4" name="Shape 2"/>
          <p:cNvSpPr/>
          <p:nvPr/>
        </p:nvSpPr>
        <p:spPr>
          <a:xfrm>
            <a:off x="8604504" y="411480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C3A5E">
              <a:alpha val="85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5" name="Shape 3"/>
          <p:cNvSpPr/>
          <p:nvPr/>
        </p:nvSpPr>
        <p:spPr>
          <a:xfrm>
            <a:off x="9226296" y="411480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C3A5E">
              <a:alpha val="85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6" name="Shape 4"/>
          <p:cNvSpPr/>
          <p:nvPr/>
        </p:nvSpPr>
        <p:spPr>
          <a:xfrm>
            <a:off x="9848088" y="411480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E0A83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7" name="Shape 5"/>
          <p:cNvSpPr/>
          <p:nvPr/>
        </p:nvSpPr>
        <p:spPr>
          <a:xfrm>
            <a:off x="10469880" y="411480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C3A5E">
              <a:alpha val="85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8" name="Shape 6"/>
          <p:cNvSpPr/>
          <p:nvPr/>
        </p:nvSpPr>
        <p:spPr>
          <a:xfrm>
            <a:off x="11091672" y="4114800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C3A5E">
              <a:alpha val="85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9" name="Shape 7"/>
          <p:cNvSpPr/>
          <p:nvPr/>
        </p:nvSpPr>
        <p:spPr>
          <a:xfrm>
            <a:off x="7360920" y="4736592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C3A5E">
              <a:alpha val="85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0" name="Shape 8"/>
          <p:cNvSpPr/>
          <p:nvPr/>
        </p:nvSpPr>
        <p:spPr>
          <a:xfrm>
            <a:off x="7982712" y="4736592"/>
            <a:ext cx="566928" cy="566928"/>
          </a:xfrm>
          <a:prstGeom prst="roundRect">
            <a:avLst>
              <a:gd name="adj" fmla="val 8065"/>
            </a:avLst>
          </a:prstGeom>
          <a:solidFill>
            <a:srgbClr val="E0A83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1" name="Shape 9"/>
          <p:cNvSpPr/>
          <p:nvPr/>
        </p:nvSpPr>
        <p:spPr>
          <a:xfrm>
            <a:off x="8604504" y="4736592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C3A5E">
              <a:alpha val="85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2" name="Shape 10"/>
          <p:cNvSpPr/>
          <p:nvPr/>
        </p:nvSpPr>
        <p:spPr>
          <a:xfrm>
            <a:off x="9226296" y="4736592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C3A5E">
              <a:alpha val="85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3" name="Shape 11"/>
          <p:cNvSpPr/>
          <p:nvPr/>
        </p:nvSpPr>
        <p:spPr>
          <a:xfrm>
            <a:off x="9848088" y="4736592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C3A5E">
              <a:alpha val="85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4" name="Shape 12"/>
          <p:cNvSpPr/>
          <p:nvPr/>
        </p:nvSpPr>
        <p:spPr>
          <a:xfrm>
            <a:off x="10469880" y="4736592"/>
            <a:ext cx="566928" cy="566928"/>
          </a:xfrm>
          <a:prstGeom prst="roundRect">
            <a:avLst>
              <a:gd name="adj" fmla="val 8065"/>
            </a:avLst>
          </a:prstGeom>
          <a:solidFill>
            <a:srgbClr val="E0A83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5" name="Shape 13"/>
          <p:cNvSpPr/>
          <p:nvPr/>
        </p:nvSpPr>
        <p:spPr>
          <a:xfrm>
            <a:off x="11091672" y="4736592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C3A5E">
              <a:alpha val="85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6" name="Shape 14"/>
          <p:cNvSpPr/>
          <p:nvPr/>
        </p:nvSpPr>
        <p:spPr>
          <a:xfrm>
            <a:off x="7360920" y="5358384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C3A5E">
              <a:alpha val="85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7" name="Shape 15"/>
          <p:cNvSpPr/>
          <p:nvPr/>
        </p:nvSpPr>
        <p:spPr>
          <a:xfrm>
            <a:off x="7982712" y="5358384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C3A5E">
              <a:alpha val="85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8" name="Shape 16"/>
          <p:cNvSpPr/>
          <p:nvPr/>
        </p:nvSpPr>
        <p:spPr>
          <a:xfrm>
            <a:off x="8604504" y="5358384"/>
            <a:ext cx="566928" cy="566928"/>
          </a:xfrm>
          <a:prstGeom prst="roundRect">
            <a:avLst>
              <a:gd name="adj" fmla="val 8065"/>
            </a:avLst>
          </a:prstGeom>
          <a:solidFill>
            <a:srgbClr val="E0A83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19" name="Shape 17"/>
          <p:cNvSpPr/>
          <p:nvPr/>
        </p:nvSpPr>
        <p:spPr>
          <a:xfrm>
            <a:off x="9226296" y="5358384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C3A5E">
              <a:alpha val="85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0" name="Shape 18"/>
          <p:cNvSpPr/>
          <p:nvPr/>
        </p:nvSpPr>
        <p:spPr>
          <a:xfrm>
            <a:off x="9848088" y="5358384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C3A5E">
              <a:alpha val="85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1" name="Shape 19"/>
          <p:cNvSpPr/>
          <p:nvPr/>
        </p:nvSpPr>
        <p:spPr>
          <a:xfrm>
            <a:off x="10469880" y="5358384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C3A5E">
              <a:alpha val="85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2" name="Shape 20"/>
          <p:cNvSpPr/>
          <p:nvPr/>
        </p:nvSpPr>
        <p:spPr>
          <a:xfrm>
            <a:off x="11091672" y="5358384"/>
            <a:ext cx="566928" cy="566928"/>
          </a:xfrm>
          <a:prstGeom prst="roundRect">
            <a:avLst>
              <a:gd name="adj" fmla="val 8065"/>
            </a:avLst>
          </a:prstGeom>
          <a:solidFill>
            <a:srgbClr val="E0A83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3" name="Shape 21"/>
          <p:cNvSpPr/>
          <p:nvPr/>
        </p:nvSpPr>
        <p:spPr>
          <a:xfrm>
            <a:off x="7360920" y="5980176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C3A5E">
              <a:alpha val="85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4" name="Shape 22"/>
          <p:cNvSpPr/>
          <p:nvPr/>
        </p:nvSpPr>
        <p:spPr>
          <a:xfrm>
            <a:off x="7982712" y="5980176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C3A5E">
              <a:alpha val="85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5" name="Shape 23"/>
          <p:cNvSpPr/>
          <p:nvPr/>
        </p:nvSpPr>
        <p:spPr>
          <a:xfrm>
            <a:off x="8604504" y="5980176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C3A5E">
              <a:alpha val="85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6" name="Shape 24"/>
          <p:cNvSpPr/>
          <p:nvPr/>
        </p:nvSpPr>
        <p:spPr>
          <a:xfrm>
            <a:off x="9226296" y="5980176"/>
            <a:ext cx="566928" cy="566928"/>
          </a:xfrm>
          <a:prstGeom prst="roundRect">
            <a:avLst>
              <a:gd name="adj" fmla="val 8065"/>
            </a:avLst>
          </a:prstGeom>
          <a:solidFill>
            <a:srgbClr val="E0A83E"/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7" name="Shape 25"/>
          <p:cNvSpPr/>
          <p:nvPr/>
        </p:nvSpPr>
        <p:spPr>
          <a:xfrm>
            <a:off x="9848088" y="5980176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C3A5E">
              <a:alpha val="85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8" name="Shape 26"/>
          <p:cNvSpPr/>
          <p:nvPr/>
        </p:nvSpPr>
        <p:spPr>
          <a:xfrm>
            <a:off x="10469880" y="5980176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C3A5E">
              <a:alpha val="85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29" name="Shape 27"/>
          <p:cNvSpPr/>
          <p:nvPr/>
        </p:nvSpPr>
        <p:spPr>
          <a:xfrm>
            <a:off x="11091672" y="5980176"/>
            <a:ext cx="566928" cy="566928"/>
          </a:xfrm>
          <a:prstGeom prst="roundRect">
            <a:avLst>
              <a:gd name="adj" fmla="val 8065"/>
            </a:avLst>
          </a:prstGeom>
          <a:solidFill>
            <a:srgbClr val="1C3A5E">
              <a:alpha val="85000"/>
            </a:srgbClr>
          </a:solidFill>
          <a:ln/>
        </p:spPr>
        <p:txBody>
          <a:bodyPr/>
          <a:lstStyle/>
          <a:p>
            <a:endParaRPr lang="en-NZ"/>
          </a:p>
        </p:txBody>
      </p:sp>
      <p:sp>
        <p:nvSpPr>
          <p:cNvPr id="30" name="Text 28"/>
          <p:cNvSpPr/>
          <p:nvPr/>
        </p:nvSpPr>
        <p:spPr>
          <a:xfrm>
            <a:off x="82296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0A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IN A MINUTE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86384" y="146304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the link and press Roll</a:t>
            </a:r>
            <a:endParaRPr lang="en-US" sz="4000" dirty="0"/>
          </a:p>
        </p:txBody>
      </p:sp>
      <p:sp>
        <p:nvSpPr>
          <p:cNvPr id="32" name="Shape 30"/>
          <p:cNvSpPr/>
          <p:nvPr/>
        </p:nvSpPr>
        <p:spPr>
          <a:xfrm>
            <a:off x="868680" y="3200400"/>
            <a:ext cx="731520" cy="731520"/>
          </a:xfrm>
          <a:prstGeom prst="ellipse">
            <a:avLst/>
          </a:prstGeom>
          <a:solidFill>
            <a:srgbClr val="1C7293"/>
          </a:solidFill>
          <a:ln/>
          <a:effectLst>
            <a:outerShdw blurRad="114300" dist="38100" dir="5400000" algn="bl" rotWithShape="0">
              <a:srgbClr val="0A1526">
                <a:alpha val="18000"/>
              </a:srgbClr>
            </a:outerShdw>
          </a:effectLst>
        </p:spPr>
        <p:txBody>
          <a:bodyPr/>
          <a:lstStyle/>
          <a:p>
            <a:endParaRPr lang="en-NZ"/>
          </a:p>
        </p:txBody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875" y="3390595"/>
            <a:ext cx="351130" cy="351130"/>
          </a:xfrm>
          <a:prstGeom prst="rect">
            <a:avLst/>
          </a:prstGeom>
        </p:spPr>
      </p:pic>
      <p:sp>
        <p:nvSpPr>
          <p:cNvPr id="34" name="Text 31">
            <a:hlinkClick r:id="rId4"/>
          </p:cNvPr>
          <p:cNvSpPr/>
          <p:nvPr/>
        </p:nvSpPr>
        <p:spPr>
          <a:xfrm>
            <a:off x="1828800" y="329184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shamoug.github.io/comgro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914400" y="4114800"/>
            <a:ext cx="61264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C7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anywhere: any modern browser, on a laptop or a phone.</a:t>
            </a:r>
            <a:endParaRPr lang="en-US" sz="1600" dirty="0"/>
          </a:p>
          <a:p>
            <a:pPr marL="203200" indent="-2032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C7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accounts, no installs, no cost.</a:t>
            </a:r>
            <a:endParaRPr lang="en-US" sz="1600" dirty="0"/>
          </a:p>
          <a:p>
            <a:pPr marL="203200" indent="-2032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C7D4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 once loaded, and the whole thing is one small web page.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82296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by Digital Solutions Lab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b77875e-5908-45a0-9cb4-dec9ae074618}" enabled="1" method="Privileged" siteId="{0f9e35db-544f-4f60-bdcc-5ea416e6dc7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856</Words>
  <Application>Microsoft Office PowerPoint</Application>
  <PresentationFormat>Widescreen</PresentationFormat>
  <Paragraphs>103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Common Ground: The Long Road</dc:title>
  <dc:subject>PptxGenJS Presentation</dc:subject>
  <dc:creator>Digital Solutions Lab</dc:creator>
  <cp:lastModifiedBy>Aladdin Shamoug</cp:lastModifiedBy>
  <cp:revision>1</cp:revision>
  <dcterms:created xsi:type="dcterms:W3CDTF">2026-07-02T14:39:17Z</dcterms:created>
  <dcterms:modified xsi:type="dcterms:W3CDTF">2026-07-02T17:04:23Z</dcterms:modified>
</cp:coreProperties>
</file>